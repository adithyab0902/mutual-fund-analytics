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Gotham" charset="1" panose="00000000000000000000"/>
      <p:regular r:id="rId19"/>
    </p:embeddedFont>
    <p:embeddedFont>
      <p:font typeface="Gotham Bold" charset="1" panose="00000000000000000000"/>
      <p:regular r:id="rId20"/>
    </p:embeddedFont>
    <p:embeddedFont>
      <p:font typeface="Gotham Bold Italics" charset="1" panose="02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4080" y="-2935643"/>
            <a:ext cx="10994424" cy="10994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857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84897" y="5379918"/>
            <a:ext cx="6059445" cy="60594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720762" y="6964430"/>
            <a:ext cx="2000810" cy="4114800"/>
          </a:xfrm>
          <a:custGeom>
            <a:avLst/>
            <a:gdLst/>
            <a:ahLst/>
            <a:cxnLst/>
            <a:rect r="r" b="b" t="t" l="l"/>
            <a:pathLst>
              <a:path h="4114800" w="2000810">
                <a:moveTo>
                  <a:pt x="0" y="0"/>
                </a:moveTo>
                <a:lnTo>
                  <a:pt x="2000810" y="0"/>
                </a:lnTo>
                <a:lnTo>
                  <a:pt x="20008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204881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762088" y="-9632634"/>
            <a:ext cx="10994424" cy="109944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373132" y="4114076"/>
            <a:ext cx="12198237" cy="2291464"/>
            <a:chOff x="0" y="0"/>
            <a:chExt cx="3212705" cy="6035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12704" cy="603513"/>
            </a:xfrm>
            <a:custGeom>
              <a:avLst/>
              <a:gdLst/>
              <a:ahLst/>
              <a:cxnLst/>
              <a:rect r="r" b="b" t="t" l="l"/>
              <a:pathLst>
                <a:path h="603513" w="3212704">
                  <a:moveTo>
                    <a:pt x="0" y="0"/>
                  </a:moveTo>
                  <a:lnTo>
                    <a:pt x="3212704" y="0"/>
                  </a:lnTo>
                  <a:lnTo>
                    <a:pt x="3212704" y="603513"/>
                  </a:lnTo>
                  <a:lnTo>
                    <a:pt x="0" y="603513"/>
                  </a:lnTo>
                  <a:close/>
                </a:path>
              </a:pathLst>
            </a:custGeom>
            <a:solidFill>
              <a:srgbClr val="FFFEF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212705" cy="632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149576" y="5629034"/>
            <a:ext cx="8645350" cy="490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2"/>
              </a:lnSpc>
              <a:spcBef>
                <a:spcPct val="0"/>
              </a:spcBef>
            </a:pPr>
            <a:r>
              <a:rPr lang="en-US" sz="2801" spc="156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Bluestock Internship Capstone Project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64241" y="4028351"/>
            <a:ext cx="11159517" cy="150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1"/>
              </a:lnSpc>
              <a:spcBef>
                <a:spcPct val="0"/>
              </a:spcBef>
            </a:pPr>
            <a:r>
              <a:rPr lang="en-US" b="true" sz="4308" spc="603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MUTUAL FUND ANALYTICS PLATFORM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-9965724" y="-1383136"/>
            <a:ext cx="10994424" cy="1099442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501640" y="7634573"/>
            <a:ext cx="15354304" cy="197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2"/>
              </a:lnSpc>
            </a:pPr>
            <a:r>
              <a:rPr lang="en-US" sz="2801" spc="156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Presented By: Adithya B</a:t>
            </a:r>
          </a:p>
          <a:p>
            <a:pPr algn="ctr">
              <a:lnSpc>
                <a:spcPts val="3922"/>
              </a:lnSpc>
            </a:pPr>
            <a:r>
              <a:rPr lang="en-US" sz="2801" spc="156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College: Vel Tech High Tech Engineering College</a:t>
            </a:r>
          </a:p>
          <a:p>
            <a:pPr algn="ctr">
              <a:lnSpc>
                <a:spcPts val="3922"/>
              </a:lnSpc>
            </a:pPr>
            <a:r>
              <a:rPr lang="en-US" sz="2801" spc="156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Project Duration: 01 June 2026 – 12 June 2026</a:t>
            </a:r>
          </a:p>
          <a:p>
            <a:pPr algn="ctr">
              <a:lnSpc>
                <a:spcPts val="392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57275"/>
            <a:ext cx="6434800" cy="64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</a:pPr>
            <a:r>
              <a:rPr lang="en-US" b="true" sz="4466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22024" y="2014295"/>
            <a:ext cx="16037276" cy="90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The mutual fund industry generates large volumes of financial and investor data. Extracting meaningful insights from this data is essential for investors, fund managers, and financial institutions.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3019060"/>
            <a:ext cx="6434800" cy="64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</a:pPr>
            <a:r>
              <a:rPr lang="en-US" b="true" sz="4466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Objectives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5362" y="4017605"/>
            <a:ext cx="9633274" cy="371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Build ETL pipeline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Perform Exploratory Data Analysis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Analyze fund performance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Measure investment risk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Study investor behavior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Develop recommendation system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Create interactive Power BI dashboard</a:t>
            </a:r>
          </a:p>
          <a:p>
            <a:pPr algn="l">
              <a:lnSpc>
                <a:spcPts val="276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57275"/>
            <a:ext cx="6434800" cy="64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</a:pPr>
            <a:r>
              <a:rPr lang="en-US" b="true" sz="4466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Data Sources: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902350"/>
            <a:ext cx="9633274" cy="4663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Dataset &amp; Purpose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Fund Mast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er-Fund information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NAV History-Daily NAV tracking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AUM-Industry growth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SIP Inflows-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nvestor activity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Category Inflows-Fund category analysis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Folios-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Ind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ustry participation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Investor Transactions-Demographic analytics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Po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rtfolio Holdings-Sector allocation</a:t>
            </a:r>
          </a:p>
          <a:p>
            <a:pPr algn="l">
              <a:lnSpc>
                <a:spcPts val="276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764037"/>
            <a:ext cx="9633274" cy="2282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2"/>
              </a:lnSpc>
            </a:pP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Total Recor</a:t>
            </a: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ds</a:t>
            </a: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 Analyzed: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46,000+ NAV Records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Th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ousa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nd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 of investor transactions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40 Mutual Fund Schemes</a:t>
            </a:r>
          </a:p>
          <a:p>
            <a:pPr algn="l">
              <a:lnSpc>
                <a:spcPts val="276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00861" y="1965021"/>
            <a:ext cx="4075120" cy="7293279"/>
          </a:xfrm>
          <a:custGeom>
            <a:avLst/>
            <a:gdLst/>
            <a:ahLst/>
            <a:cxnLst/>
            <a:rect r="r" b="b" t="t" l="l"/>
            <a:pathLst>
              <a:path h="7293279" w="4075120">
                <a:moveTo>
                  <a:pt x="0" y="0"/>
                </a:moveTo>
                <a:lnTo>
                  <a:pt x="4075120" y="0"/>
                </a:lnTo>
                <a:lnTo>
                  <a:pt x="4075120" y="7293279"/>
                </a:lnTo>
                <a:lnTo>
                  <a:pt x="0" y="7293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57275"/>
            <a:ext cx="6434800" cy="64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</a:pPr>
            <a:r>
              <a:rPr lang="en-US" b="true" sz="4466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Project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79525" y="3433533"/>
            <a:ext cx="3703290" cy="5824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3933" i="true" b="true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Technologies</a:t>
            </a:r>
          </a:p>
          <a:p>
            <a:pPr algn="l" marL="849213" indent="-424606" lvl="1">
              <a:lnSpc>
                <a:spcPts val="5900"/>
              </a:lnSpc>
              <a:buFont typeface="Arial"/>
              <a:buChar char="•"/>
            </a:pPr>
            <a:r>
              <a:rPr lang="en-US" sz="3933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Pyth</a:t>
            </a:r>
            <a:r>
              <a:rPr lang="en-US" sz="3933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on</a:t>
            </a:r>
          </a:p>
          <a:p>
            <a:pPr algn="l" marL="849213" indent="-424606" lvl="1">
              <a:lnSpc>
                <a:spcPts val="5900"/>
              </a:lnSpc>
              <a:buFont typeface="Arial"/>
              <a:buChar char="•"/>
            </a:pPr>
            <a:r>
              <a:rPr lang="en-US" sz="3933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Pa</a:t>
            </a:r>
            <a:r>
              <a:rPr lang="en-US" sz="3933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nd</a:t>
            </a:r>
            <a:r>
              <a:rPr lang="en-US" sz="3933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as</a:t>
            </a:r>
          </a:p>
          <a:p>
            <a:pPr algn="l" marL="849213" indent="-424606" lvl="1">
              <a:lnSpc>
                <a:spcPts val="5900"/>
              </a:lnSpc>
              <a:buFont typeface="Arial"/>
              <a:buChar char="•"/>
            </a:pPr>
            <a:r>
              <a:rPr lang="en-US" sz="3933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N</a:t>
            </a:r>
            <a:r>
              <a:rPr lang="en-US" sz="3933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umPy</a:t>
            </a:r>
          </a:p>
          <a:p>
            <a:pPr algn="l" marL="849213" indent="-424606" lvl="1">
              <a:lnSpc>
                <a:spcPts val="5900"/>
              </a:lnSpc>
              <a:buFont typeface="Arial"/>
              <a:buChar char="•"/>
            </a:pPr>
            <a:r>
              <a:rPr lang="en-US" sz="3933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Plotly</a:t>
            </a:r>
          </a:p>
          <a:p>
            <a:pPr algn="l" marL="849213" indent="-424606" lvl="1">
              <a:lnSpc>
                <a:spcPts val="5900"/>
              </a:lnSpc>
              <a:buFont typeface="Arial"/>
              <a:buChar char="•"/>
            </a:pPr>
            <a:r>
              <a:rPr lang="en-US" sz="3933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Seaborn</a:t>
            </a:r>
          </a:p>
          <a:p>
            <a:pPr algn="l" marL="849213" indent="-424606" lvl="1">
              <a:lnSpc>
                <a:spcPts val="5900"/>
              </a:lnSpc>
              <a:buFont typeface="Arial"/>
              <a:buChar char="•"/>
            </a:pPr>
            <a:r>
              <a:rPr lang="en-US" sz="3933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Power BI</a:t>
            </a:r>
          </a:p>
          <a:p>
            <a:pPr algn="l">
              <a:lnSpc>
                <a:spcPts val="432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463500" y="5143500"/>
            <a:ext cx="10466385" cy="4840703"/>
          </a:xfrm>
          <a:custGeom>
            <a:avLst/>
            <a:gdLst/>
            <a:ahLst/>
            <a:cxnLst/>
            <a:rect r="r" b="b" t="t" l="l"/>
            <a:pathLst>
              <a:path h="4840703" w="10466385">
                <a:moveTo>
                  <a:pt x="0" y="0"/>
                </a:moveTo>
                <a:lnTo>
                  <a:pt x="10466385" y="0"/>
                </a:lnTo>
                <a:lnTo>
                  <a:pt x="10466385" y="4840703"/>
                </a:lnTo>
                <a:lnTo>
                  <a:pt x="0" y="4840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75129" y="78338"/>
            <a:ext cx="8292925" cy="5291286"/>
          </a:xfrm>
          <a:custGeom>
            <a:avLst/>
            <a:gdLst/>
            <a:ahLst/>
            <a:cxnLst/>
            <a:rect r="r" b="b" t="t" l="l"/>
            <a:pathLst>
              <a:path h="5291286" w="8292925">
                <a:moveTo>
                  <a:pt x="0" y="0"/>
                </a:moveTo>
                <a:lnTo>
                  <a:pt x="8292926" y="0"/>
                </a:lnTo>
                <a:lnTo>
                  <a:pt x="8292926" y="5291286"/>
                </a:lnTo>
                <a:lnTo>
                  <a:pt x="0" y="5291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272" r="0" b="-467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57275"/>
            <a:ext cx="6434800" cy="64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</a:pPr>
            <a:r>
              <a:rPr lang="en-US" b="true" sz="4466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EDA Highlights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2024" y="2014295"/>
            <a:ext cx="4306770" cy="277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Key Visualizations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NAV Trend Analysis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SIP Growth Analysis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AUM Growth Analysis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Folio Growth Analysis</a:t>
            </a:r>
          </a:p>
          <a:p>
            <a:pPr algn="l">
              <a:lnSpc>
                <a:spcPts val="374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496223"/>
            <a:ext cx="6434800" cy="64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</a:pPr>
            <a:r>
              <a:rPr lang="en-US" b="true" sz="4466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2024" y="5526581"/>
            <a:ext cx="9633274" cy="2282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Industry AUM increased steadily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SIP inflows reached record highs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Investor participation doubled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Equi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ty funds dominated inflows</a:t>
            </a:r>
          </a:p>
          <a:p>
            <a:pPr algn="l">
              <a:lnSpc>
                <a:spcPts val="276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083758" y="265579"/>
            <a:ext cx="8408376" cy="5370850"/>
          </a:xfrm>
          <a:custGeom>
            <a:avLst/>
            <a:gdLst/>
            <a:ahLst/>
            <a:cxnLst/>
            <a:rect r="r" b="b" t="t" l="l"/>
            <a:pathLst>
              <a:path h="5370850" w="8408376">
                <a:moveTo>
                  <a:pt x="0" y="0"/>
                </a:moveTo>
                <a:lnTo>
                  <a:pt x="8408376" y="0"/>
                </a:lnTo>
                <a:lnTo>
                  <a:pt x="8408376" y="5370850"/>
                </a:lnTo>
                <a:lnTo>
                  <a:pt x="0" y="537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15638" y="5524500"/>
            <a:ext cx="8943662" cy="4762500"/>
          </a:xfrm>
          <a:custGeom>
            <a:avLst/>
            <a:gdLst/>
            <a:ahLst/>
            <a:cxnLst/>
            <a:rect r="r" b="b" t="t" l="l"/>
            <a:pathLst>
              <a:path h="4762500" w="8943662">
                <a:moveTo>
                  <a:pt x="0" y="0"/>
                </a:moveTo>
                <a:lnTo>
                  <a:pt x="8943662" y="0"/>
                </a:lnTo>
                <a:lnTo>
                  <a:pt x="8943662" y="4762500"/>
                </a:lnTo>
                <a:lnTo>
                  <a:pt x="0" y="476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57275"/>
            <a:ext cx="6434800" cy="64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</a:pPr>
            <a:r>
              <a:rPr lang="en-US" b="true" sz="4466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EDA Highlights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2024" y="2014295"/>
            <a:ext cx="4306770" cy="324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Additional Analysis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Catego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ry Inflow Heatmap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Investor Demographics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Ge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ographic Distribution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Sector Allocation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2024" y="5665004"/>
            <a:ext cx="6434800" cy="64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</a:pPr>
            <a:r>
              <a:rPr lang="en-US" b="true" sz="4466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389195"/>
            <a:ext cx="5994174" cy="418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Urban investors dominate investments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Work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ing-age investors contribute most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Technology and Financial sectors dominate holdings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Category inflows vary significantly</a:t>
            </a:r>
          </a:p>
          <a:p>
            <a:pPr algn="l">
              <a:lnSpc>
                <a:spcPts val="276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528795" y="2080970"/>
            <a:ext cx="12297111" cy="6502098"/>
          </a:xfrm>
          <a:custGeom>
            <a:avLst/>
            <a:gdLst/>
            <a:ahLst/>
            <a:cxnLst/>
            <a:rect r="r" b="b" t="t" l="l"/>
            <a:pathLst>
              <a:path h="6502098" w="12297111">
                <a:moveTo>
                  <a:pt x="0" y="0"/>
                </a:moveTo>
                <a:lnTo>
                  <a:pt x="12297111" y="0"/>
                </a:lnTo>
                <a:lnTo>
                  <a:pt x="12297111" y="6502097"/>
                </a:lnTo>
                <a:lnTo>
                  <a:pt x="0" y="6502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57275"/>
            <a:ext cx="6922724" cy="64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</a:pPr>
            <a:r>
              <a:rPr lang="en-US" b="true" sz="4466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Performance Analytics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2024" y="2014295"/>
            <a:ext cx="4306770" cy="324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Metrics Calculated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CAGR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Sha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rpe Ratio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ortino Ratio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Alpha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Beta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Maximum Drawdown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2024" y="5665004"/>
            <a:ext cx="6434800" cy="64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</a:pPr>
            <a:r>
              <a:rPr lang="en-US" b="true" sz="4466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Purpose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2024" y="6492968"/>
            <a:ext cx="5994174" cy="2758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2"/>
              </a:lnSpc>
            </a:pP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Evaluate: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eturn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Risk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ownside Risk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M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arket Sensitivity</a:t>
            </a:r>
          </a:p>
          <a:p>
            <a:pPr algn="l">
              <a:lnSpc>
                <a:spcPts val="276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144043" y="703341"/>
            <a:ext cx="9642317" cy="4821159"/>
          </a:xfrm>
          <a:custGeom>
            <a:avLst/>
            <a:gdLst/>
            <a:ahLst/>
            <a:cxnLst/>
            <a:rect r="r" b="b" t="t" l="l"/>
            <a:pathLst>
              <a:path h="4821159" w="9642317">
                <a:moveTo>
                  <a:pt x="0" y="0"/>
                </a:moveTo>
                <a:lnTo>
                  <a:pt x="9642317" y="0"/>
                </a:lnTo>
                <a:lnTo>
                  <a:pt x="9642317" y="4821159"/>
                </a:lnTo>
                <a:lnTo>
                  <a:pt x="0" y="48211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59717" y="5660163"/>
            <a:ext cx="8481030" cy="4431732"/>
          </a:xfrm>
          <a:custGeom>
            <a:avLst/>
            <a:gdLst/>
            <a:ahLst/>
            <a:cxnLst/>
            <a:rect r="r" b="b" t="t" l="l"/>
            <a:pathLst>
              <a:path h="4431732" w="8481030">
                <a:moveTo>
                  <a:pt x="0" y="0"/>
                </a:moveTo>
                <a:lnTo>
                  <a:pt x="8481030" y="0"/>
                </a:lnTo>
                <a:lnTo>
                  <a:pt x="8481030" y="4431732"/>
                </a:lnTo>
                <a:lnTo>
                  <a:pt x="0" y="4431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57275"/>
            <a:ext cx="6434800" cy="64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</a:pPr>
            <a:r>
              <a:rPr lang="en-US" b="true" sz="4466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Risk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2024" y="2014295"/>
            <a:ext cx="4306770" cy="230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Advanc</a:t>
            </a: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ed</a:t>
            </a: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 Risk Measures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Historical VaR (95%)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Conditional VaR (CVaR)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olling 90-Day Sharpe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877223"/>
            <a:ext cx="6434800" cy="64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</a:pPr>
            <a:r>
              <a:rPr lang="en-US" b="true" sz="4466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Findings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2024" y="5838825"/>
            <a:ext cx="5994174" cy="323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Small-cap funds showed higher risk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CVaR 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exceeded VaR during extreme periods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Risk-adjusted performance varied significantly</a:t>
            </a:r>
          </a:p>
          <a:p>
            <a:pPr algn="l">
              <a:lnSpc>
                <a:spcPts val="276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58196" y="705654"/>
            <a:ext cx="9506976" cy="5704186"/>
          </a:xfrm>
          <a:custGeom>
            <a:avLst/>
            <a:gdLst/>
            <a:ahLst/>
            <a:cxnLst/>
            <a:rect r="r" b="b" t="t" l="l"/>
            <a:pathLst>
              <a:path h="5704186" w="9506976">
                <a:moveTo>
                  <a:pt x="0" y="0"/>
                </a:moveTo>
                <a:lnTo>
                  <a:pt x="9506976" y="0"/>
                </a:lnTo>
                <a:lnTo>
                  <a:pt x="9506976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2535" y="5257721"/>
            <a:ext cx="7840943" cy="4900589"/>
          </a:xfrm>
          <a:custGeom>
            <a:avLst/>
            <a:gdLst/>
            <a:ahLst/>
            <a:cxnLst/>
            <a:rect r="r" b="b" t="t" l="l"/>
            <a:pathLst>
              <a:path h="4900589" w="7840943">
                <a:moveTo>
                  <a:pt x="0" y="0"/>
                </a:moveTo>
                <a:lnTo>
                  <a:pt x="7840943" y="0"/>
                </a:lnTo>
                <a:lnTo>
                  <a:pt x="7840943" y="4900589"/>
                </a:lnTo>
                <a:lnTo>
                  <a:pt x="0" y="49005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57275"/>
            <a:ext cx="6922724" cy="64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</a:pPr>
            <a:r>
              <a:rPr lang="en-US" b="true" sz="4466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Investor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9259" y="1826086"/>
            <a:ext cx="7518937" cy="324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Cohort Analysis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2024 cohort contributed hig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h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est investment</a:t>
            </a:r>
          </a:p>
          <a:p>
            <a:pPr algn="l">
              <a:lnSpc>
                <a:spcPts val="3746"/>
              </a:lnSpc>
            </a:pP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SIP C</a:t>
            </a: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ontinuity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Majority investors classified as At-Risk</a:t>
            </a:r>
          </a:p>
          <a:p>
            <a:pPr algn="l">
              <a:lnSpc>
                <a:spcPts val="3746"/>
              </a:lnSpc>
            </a:pP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Recommend</a:t>
            </a: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ation Engine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Fund suggestions based on risk profile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995124" y="87968"/>
            <a:ext cx="9081044" cy="5293564"/>
          </a:xfrm>
          <a:custGeom>
            <a:avLst/>
            <a:gdLst/>
            <a:ahLst/>
            <a:cxnLst/>
            <a:rect r="r" b="b" t="t" l="l"/>
            <a:pathLst>
              <a:path h="5293564" w="9081044">
                <a:moveTo>
                  <a:pt x="0" y="0"/>
                </a:moveTo>
                <a:lnTo>
                  <a:pt x="9081044" y="0"/>
                </a:lnTo>
                <a:lnTo>
                  <a:pt x="9081044" y="5293563"/>
                </a:lnTo>
                <a:lnTo>
                  <a:pt x="0" y="52935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93" t="-10962" r="-1096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030031"/>
            <a:ext cx="8995124" cy="5312314"/>
          </a:xfrm>
          <a:custGeom>
            <a:avLst/>
            <a:gdLst/>
            <a:ahLst/>
            <a:cxnLst/>
            <a:rect r="r" b="b" t="t" l="l"/>
            <a:pathLst>
              <a:path h="5312314" w="8995124">
                <a:moveTo>
                  <a:pt x="0" y="0"/>
                </a:moveTo>
                <a:lnTo>
                  <a:pt x="8995124" y="0"/>
                </a:lnTo>
                <a:lnTo>
                  <a:pt x="8995124" y="5312315"/>
                </a:lnTo>
                <a:lnTo>
                  <a:pt x="0" y="5312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15" t="-10962" r="-11539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57275"/>
            <a:ext cx="8115300" cy="64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</a:pPr>
            <a:r>
              <a:rPr lang="en-US" b="true" sz="4466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Dashboard Screenshots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2024" y="2014295"/>
            <a:ext cx="4306770" cy="137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Pow</a:t>
            </a: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er</a:t>
            </a: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 BI Dashboard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Indu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stry Overview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Fu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nd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629832" y="-5752"/>
            <a:ext cx="9658168" cy="5569476"/>
          </a:xfrm>
          <a:custGeom>
            <a:avLst/>
            <a:gdLst/>
            <a:ahLst/>
            <a:cxnLst/>
            <a:rect r="r" b="b" t="t" l="l"/>
            <a:pathLst>
              <a:path h="5569476" w="9658168">
                <a:moveTo>
                  <a:pt x="0" y="0"/>
                </a:moveTo>
                <a:lnTo>
                  <a:pt x="9658168" y="0"/>
                </a:lnTo>
                <a:lnTo>
                  <a:pt x="9658168" y="5569476"/>
                </a:lnTo>
                <a:lnTo>
                  <a:pt x="0" y="5569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91" t="-12580" r="-1121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893111"/>
            <a:ext cx="8820979" cy="5393889"/>
          </a:xfrm>
          <a:custGeom>
            <a:avLst/>
            <a:gdLst/>
            <a:ahLst/>
            <a:cxnLst/>
            <a:rect r="r" b="b" t="t" l="l"/>
            <a:pathLst>
              <a:path h="5393889" w="8820979">
                <a:moveTo>
                  <a:pt x="0" y="0"/>
                </a:moveTo>
                <a:lnTo>
                  <a:pt x="8820979" y="0"/>
                </a:lnTo>
                <a:lnTo>
                  <a:pt x="8820979" y="5393889"/>
                </a:lnTo>
                <a:lnTo>
                  <a:pt x="0" y="5393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67" t="-11307" r="-1475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563724"/>
            <a:ext cx="8365106" cy="4723276"/>
          </a:xfrm>
          <a:custGeom>
            <a:avLst/>
            <a:gdLst/>
            <a:ahLst/>
            <a:cxnLst/>
            <a:rect r="r" b="b" t="t" l="l"/>
            <a:pathLst>
              <a:path h="4723276" w="8365106">
                <a:moveTo>
                  <a:pt x="0" y="0"/>
                </a:moveTo>
                <a:lnTo>
                  <a:pt x="8365106" y="0"/>
                </a:lnTo>
                <a:lnTo>
                  <a:pt x="8365106" y="4723276"/>
                </a:lnTo>
                <a:lnTo>
                  <a:pt x="0" y="47232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075" t="-42783" r="-25086" b="-1919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057275"/>
            <a:ext cx="8115300" cy="64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</a:pPr>
            <a:r>
              <a:rPr lang="en-US" b="true" sz="4466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Dashboard Screenshots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2024" y="2014295"/>
            <a:ext cx="4306770" cy="1840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Pow</a:t>
            </a: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er</a:t>
            </a:r>
            <a:r>
              <a:rPr lang="en-US" sz="2514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 BI Dashboard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Inve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stor Analytics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SIP &amp; Market Trends</a:t>
            </a:r>
          </a:p>
          <a:p>
            <a:pPr algn="l" marL="542917" indent="-271458" lvl="1">
              <a:lnSpc>
                <a:spcPts val="3746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Drill through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22344" y="1850963"/>
            <a:ext cx="8136956" cy="7407337"/>
          </a:xfrm>
          <a:custGeom>
            <a:avLst/>
            <a:gdLst/>
            <a:ahLst/>
            <a:cxnLst/>
            <a:rect r="r" b="b" t="t" l="l"/>
            <a:pathLst>
              <a:path h="7407337" w="8136956">
                <a:moveTo>
                  <a:pt x="0" y="0"/>
                </a:moveTo>
                <a:lnTo>
                  <a:pt x="8136956" y="0"/>
                </a:lnTo>
                <a:lnTo>
                  <a:pt x="8136956" y="7407337"/>
                </a:lnTo>
                <a:lnTo>
                  <a:pt x="0" y="7407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208" t="-2920" r="-42540" b="-1022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399066"/>
            <a:ext cx="6434800" cy="64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</a:pPr>
            <a:r>
              <a:rPr lang="en-US" b="true" sz="4466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Key Findings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650564"/>
            <a:ext cx="9633274" cy="323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2"/>
              </a:lnSpc>
            </a:pP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SIP inflows reached record levels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Folio count doubled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Sm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all-cap funds generated highest returns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isk-a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dj</a:t>
            </a: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usted performance varied by category</a:t>
            </a:r>
          </a:p>
          <a:p>
            <a:pPr algn="l" marL="542917" indent="-271458" lvl="1">
              <a:lnSpc>
                <a:spcPts val="3772"/>
              </a:lnSpc>
              <a:buFont typeface="Arial"/>
              <a:buChar char="•"/>
            </a:pPr>
            <a:r>
              <a:rPr lang="en-US" sz="2514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Investor participation continues to grow</a:t>
            </a:r>
          </a:p>
          <a:p>
            <a:pPr algn="l">
              <a:lnSpc>
                <a:spcPts val="2766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551144" y="5074191"/>
            <a:ext cx="11159517" cy="738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1"/>
              </a:lnSpc>
              <a:spcBef>
                <a:spcPct val="0"/>
              </a:spcBef>
            </a:pPr>
            <a:r>
              <a:rPr lang="en-US" b="true" sz="4308" spc="603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DAHMWcS8XEg</dc:identifier>
  <dcterms:modified xsi:type="dcterms:W3CDTF">2011-08-01T06:04:30Z</dcterms:modified>
  <cp:revision>1</cp:revision>
  <dc:title>Mutual Fund Analytics Platform</dc:title>
</cp:coreProperties>
</file>